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 Lorna" userId="55e4b55d-dafe-4a73-957c-83d1ba64b2bb" providerId="ADAL" clId="{E82DD138-5BED-49BA-A257-613FB48B6FA1}"/>
    <pc:docChg chg="custSel addSld modSld">
      <pc:chgData name="Joy Lorna" userId="55e4b55d-dafe-4a73-957c-83d1ba64b2bb" providerId="ADAL" clId="{E82DD138-5BED-49BA-A257-613FB48B6FA1}" dt="2026-08-27T23:54:53.089" v="298" actId="26606"/>
      <pc:docMkLst>
        <pc:docMk/>
      </pc:docMkLst>
      <pc:sldChg chg="addSp delSp modSp mod">
        <pc:chgData name="Joy Lorna" userId="55e4b55d-dafe-4a73-957c-83d1ba64b2bb" providerId="ADAL" clId="{E82DD138-5BED-49BA-A257-613FB48B6FA1}" dt="2026-08-27T23:50:54.394" v="297" actId="26606"/>
        <pc:sldMkLst>
          <pc:docMk/>
          <pc:sldMk cId="3459345311" sldId="256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7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1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1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459345311" sldId="256"/>
            <ac:spMk id="14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459345311" sldId="256"/>
            <ac:spMk id="1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459345311" sldId="256"/>
            <ac:spMk id="30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459345311" sldId="256"/>
            <ac:spMk id="3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459345311" sldId="256"/>
            <ac:spMk id="3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459345311" sldId="256"/>
            <ac:spMk id="33" creationId="{00000000-0000-0000-0000-000000000000}"/>
          </ac:spMkLst>
        </pc:spChg>
      </pc:sldChg>
      <pc:sldChg chg="addSp delSp modSp mod">
        <pc:chgData name="Joy Lorna" userId="55e4b55d-dafe-4a73-957c-83d1ba64b2bb" providerId="ADAL" clId="{E82DD138-5BED-49BA-A257-613FB48B6FA1}" dt="2026-08-27T23:50:54.394" v="297" actId="26606"/>
        <pc:sldMkLst>
          <pc:docMk/>
          <pc:sldMk cId="3936769954" sldId="257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3" creationId="{00000000-0000-0000-0000-000000000000}"/>
          </ac:spMkLst>
        </pc:spChg>
        <pc:spChg chg="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936769954" sldId="257"/>
            <ac:spMk id="4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936769954" sldId="257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1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1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2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2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3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3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4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936769954" sldId="257"/>
            <ac:spMk id="45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936769954" sldId="257"/>
            <ac:spMk id="60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936769954" sldId="257"/>
            <ac:spMk id="6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936769954" sldId="257"/>
            <ac:spMk id="62" creationId="{00000000-0000-0000-0000-000000000000}"/>
          </ac:spMkLst>
        </pc:spChg>
      </pc:sldChg>
      <pc:sldChg chg="addSp delSp modSp mod">
        <pc:chgData name="Joy Lorna" userId="55e4b55d-dafe-4a73-957c-83d1ba64b2bb" providerId="ADAL" clId="{E82DD138-5BED-49BA-A257-613FB48B6FA1}" dt="2026-08-27T23:54:53.089" v="298" actId="26606"/>
        <pc:sldMkLst>
          <pc:docMk/>
          <pc:sldMk cId="173178729" sldId="258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4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173178729" sldId="258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10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1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173178729" sldId="258"/>
            <ac:spMk id="14" creationId="{00000000-0000-0000-0000-000000000000}"/>
          </ac:spMkLst>
        </pc:spChg>
        <pc:graphicFrameChg chg="modGraphic">
          <ac:chgData name="Joy Lorna" userId="55e4b55d-dafe-4a73-957c-83d1ba64b2bb" providerId="ADAL" clId="{E82DD138-5BED-49BA-A257-613FB48B6FA1}" dt="2026-08-27T23:54:53.089" v="298" actId="26606"/>
          <ac:graphicFrameMkLst>
            <pc:docMk/>
            <pc:sldMk cId="173178729" sldId="258"/>
            <ac:graphicFrameMk id="8" creationId="{00000000-0000-0000-0000-000000000000}"/>
          </ac:graphicFrameMkLst>
        </pc:graphicFrameChg>
      </pc:sldChg>
      <pc:sldChg chg="addSp delSp modSp mod">
        <pc:chgData name="Joy Lorna" userId="55e4b55d-dafe-4a73-957c-83d1ba64b2bb" providerId="ADAL" clId="{E82DD138-5BED-49BA-A257-613FB48B6FA1}" dt="2026-08-27T23:54:53.089" v="298" actId="26606"/>
        <pc:sldMkLst>
          <pc:docMk/>
          <pc:sldMk cId="604312831" sldId="259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604312831" sldId="259"/>
            <ac:spMk id="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604312831" sldId="259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604312831" sldId="259"/>
            <ac:spMk id="4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604312831" sldId="259"/>
            <ac:spMk id="5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604312831" sldId="259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604312831" sldId="259"/>
            <ac:spMk id="7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4:53.089" v="298" actId="26606"/>
          <ac:spMkLst>
            <pc:docMk/>
            <pc:sldMk cId="604312831" sldId="259"/>
            <ac:spMk id="9" creationId="{00000000-0000-0000-0000-000000000000}"/>
          </ac:spMkLst>
        </pc:spChg>
        <pc:graphicFrameChg chg="modGraphic">
          <ac:chgData name="Joy Lorna" userId="55e4b55d-dafe-4a73-957c-83d1ba64b2bb" providerId="ADAL" clId="{E82DD138-5BED-49BA-A257-613FB48B6FA1}" dt="2026-08-13T18:31:39.278" v="8" actId="26606"/>
          <ac:graphicFrameMkLst>
            <pc:docMk/>
            <pc:sldMk cId="604312831" sldId="259"/>
            <ac:graphicFrameMk id="8" creationId="{00000000-0000-0000-0000-000000000000}"/>
          </ac:graphicFrameMkLst>
        </pc:graphicFrameChg>
      </pc:sldChg>
      <pc:sldChg chg="addSp delSp modSp mod">
        <pc:chgData name="Joy Lorna" userId="55e4b55d-dafe-4a73-957c-83d1ba64b2bb" providerId="ADAL" clId="{E82DD138-5BED-49BA-A257-613FB48B6FA1}" dt="2026-08-27T23:50:54.394" v="297" actId="26606"/>
        <pc:sldMkLst>
          <pc:docMk/>
          <pc:sldMk cId="3539327249" sldId="260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5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539327249" sldId="260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7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10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13T18:31:39.278" v="8" actId="26606"/>
          <ac:spMkLst>
            <pc:docMk/>
            <pc:sldMk cId="3539327249" sldId="260"/>
            <ac:spMk id="1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539327249" sldId="260"/>
            <ac:spMk id="13" creationId="{00000000-0000-0000-0000-000000000000}"/>
          </ac:spMkLst>
        </pc:spChg>
      </pc:sldChg>
      <pc:sldChg chg="addSp delSp modSp mod">
        <pc:chgData name="Joy Lorna" userId="55e4b55d-dafe-4a73-957c-83d1ba64b2bb" providerId="ADAL" clId="{E82DD138-5BED-49BA-A257-613FB48B6FA1}" dt="2026-08-27T23:50:54.394" v="297" actId="26606"/>
        <pc:sldMkLst>
          <pc:docMk/>
          <pc:sldMk cId="3388790716" sldId="261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4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3388790716" sldId="261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7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11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1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1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14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3388790716" sldId="261"/>
            <ac:spMk id="15" creationId="{00000000-0000-0000-0000-000000000000}"/>
          </ac:spMkLst>
        </pc:spChg>
      </pc:sldChg>
      <pc:sldChg chg="addSp delSp modSp mod">
        <pc:chgData name="Joy Lorna" userId="55e4b55d-dafe-4a73-957c-83d1ba64b2bb" providerId="ADAL" clId="{E82DD138-5BED-49BA-A257-613FB48B6FA1}" dt="2026-08-27T23:50:54.394" v="297" actId="26606"/>
        <pc:sldMkLst>
          <pc:docMk/>
          <pc:sldMk cId="2262673136" sldId="262"/>
        </pc:sldMkLst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2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5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2262673136" sldId="262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7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12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13T18:31:39.278" v="8" actId="26606"/>
          <ac:spMkLst>
            <pc:docMk/>
            <pc:sldMk cId="2262673136" sldId="262"/>
            <ac:spMk id="1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2262673136" sldId="262"/>
            <ac:spMk id="14" creationId="{00000000-0000-0000-0000-000000000000}"/>
          </ac:spMkLst>
        </pc:spChg>
      </pc:sldChg>
      <pc:sldChg chg="addSp delSp modSp mod">
        <pc:chgData name="Joy Lorna" userId="55e4b55d-dafe-4a73-957c-83d1ba64b2bb" providerId="ADAL" clId="{E82DD138-5BED-49BA-A257-613FB48B6FA1}" dt="2026-08-27T23:54:53.089" v="298" actId="26606"/>
        <pc:sldMkLst>
          <pc:docMk/>
          <pc:sldMk cId="703058746" sldId="263"/>
        </pc:sldMkLst>
        <pc:spChg chg="mod">
          <ac:chgData name="Joy Lorna" userId="55e4b55d-dafe-4a73-957c-83d1ba64b2bb" providerId="ADAL" clId="{E82DD138-5BED-49BA-A257-613FB48B6FA1}" dt="2026-08-27T23:54:53.089" v="298" actId="26606"/>
          <ac:spMkLst>
            <pc:docMk/>
            <pc:sldMk cId="703058746" sldId="263"/>
            <ac:spMk id="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4" creationId="{00000000-0000-0000-0000-000000000000}"/>
          </ac:spMkLst>
        </pc:spChg>
        <pc:spChg chg="add mod">
          <ac:chgData name="Joy Lorna" userId="55e4b55d-dafe-4a73-957c-83d1ba64b2bb" providerId="ADAL" clId="{E82DD138-5BED-49BA-A257-613FB48B6FA1}" dt="2026-08-27T23:50:54.394" v="297" actId="26606"/>
          <ac:spMkLst>
            <pc:docMk/>
            <pc:sldMk cId="703058746" sldId="263"/>
            <ac:spMk id="6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7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13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14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18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19" creationId="{00000000-0000-0000-0000-000000000000}"/>
          </ac:spMkLst>
        </pc:spChg>
        <pc:spChg chg="add">
          <ac:chgData name="Joy Lorna" userId="55e4b55d-dafe-4a73-957c-83d1ba64b2bb" providerId="ADAL" clId="{E82DD138-5BED-49BA-A257-613FB48B6FA1}" dt="2026-08-13T18:26:47.031" v="7" actId="26606"/>
          <ac:spMkLst>
            <pc:docMk/>
            <pc:sldMk cId="703058746" sldId="263"/>
            <ac:spMk id="20" creationId="{00000000-0000-0000-0000-000000000000}"/>
          </ac:spMkLst>
        </pc:spChg>
        <pc:graphicFrameChg chg="modGraphic">
          <ac:chgData name="Joy Lorna" userId="55e4b55d-dafe-4a73-957c-83d1ba64b2bb" providerId="ADAL" clId="{E82DD138-5BED-49BA-A257-613FB48B6FA1}" dt="2026-08-13T18:31:39.278" v="8" actId="26606"/>
          <ac:graphicFrameMkLst>
            <pc:docMk/>
            <pc:sldMk cId="703058746" sldId="263"/>
            <ac:graphicFrameMk id="8" creationId="{00000000-0000-0000-0000-000000000000}"/>
          </ac:graphicFrameMkLst>
        </pc:graphicFrameChg>
      </pc:sldChg>
      <pc:sldChg chg="modSp add mod">
        <pc:chgData name="Joy Lorna" userId="55e4b55d-dafe-4a73-957c-83d1ba64b2bb" providerId="ADAL" clId="{E82DD138-5BED-49BA-A257-613FB48B6FA1}" dt="2026-08-27T23:54:53.089" v="298" actId="26606"/>
        <pc:sldMkLst>
          <pc:docMk/>
          <pc:sldMk cId="3357591705" sldId="264"/>
        </pc:sldMkLst>
        <pc:spChg chg="mod">
          <ac:chgData name="Joy Lorna" userId="55e4b55d-dafe-4a73-957c-83d1ba64b2bb" providerId="ADAL" clId="{E82DD138-5BED-49BA-A257-613FB48B6FA1}" dt="2026-08-27T23:54:53.089" v="298" actId="26606"/>
          <ac:spMkLst>
            <pc:docMk/>
            <pc:sldMk cId="3357591705" sldId="264"/>
            <ac:spMk id="3" creationId="{00000000-0000-0000-0000-000000000000}"/>
          </ac:spMkLst>
        </pc:spChg>
        <pc:spChg chg="mod">
          <ac:chgData name="Joy Lorna" userId="55e4b55d-dafe-4a73-957c-83d1ba64b2bb" providerId="ADAL" clId="{E82DD138-5BED-49BA-A257-613FB48B6FA1}" dt="2026-08-27T23:54:53.089" v="298" actId="26606"/>
          <ac:spMkLst>
            <pc:docMk/>
            <pc:sldMk cId="3357591705" sldId="264"/>
            <ac:spMk id="14" creationId="{00000000-0000-0000-0000-000000000000}"/>
          </ac:spMkLst>
        </pc:spChg>
        <pc:spChg chg="mod">
          <ac:chgData name="Joy Lorna" userId="55e4b55d-dafe-4a73-957c-83d1ba64b2bb" providerId="ADAL" clId="{E82DD138-5BED-49BA-A257-613FB48B6FA1}" dt="2026-08-27T23:54:53.089" v="298" actId="26606"/>
          <ac:spMkLst>
            <pc:docMk/>
            <pc:sldMk cId="3357591705" sldId="264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Fee Revenue (€'000)</c:v>
                </c:pt>
              </c:strCache>
            </c:strRef>
          </c:tx>
          <c:spPr>
            <a:solidFill>
              <a:srgbClr val="156082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Nov-25</c:v>
                </c:pt>
                <c:pt idx="1">
                  <c:v>Dec-25</c:v>
                </c:pt>
                <c:pt idx="2">
                  <c:v>Jan-26</c:v>
                </c:pt>
                <c:pt idx="3">
                  <c:v>Feb-26</c:v>
                </c:pt>
                <c:pt idx="4">
                  <c:v>Mar-26</c:v>
                </c:pt>
                <c:pt idx="5">
                  <c:v>Apr-26</c:v>
                </c:pt>
                <c:pt idx="6">
                  <c:v>May-26</c:v>
                </c:pt>
                <c:pt idx="7">
                  <c:v>Jun-26</c:v>
                </c:pt>
                <c:pt idx="8">
                  <c:v>Jul-26</c:v>
                </c:pt>
                <c:pt idx="9">
                  <c:v>Aug-26</c:v>
                </c:pt>
                <c:pt idx="10">
                  <c:v>Sep-26</c:v>
                </c:pt>
                <c:pt idx="11">
                  <c:v>Oct-26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1965</c:v>
                </c:pt>
                <c:pt idx="1">
                  <c:v>2010</c:v>
                </c:pt>
                <c:pt idx="2">
                  <c:v>1988</c:v>
                </c:pt>
                <c:pt idx="3">
                  <c:v>2025</c:v>
                </c:pt>
                <c:pt idx="4">
                  <c:v>2050</c:v>
                </c:pt>
                <c:pt idx="5">
                  <c:v>2070</c:v>
                </c:pt>
                <c:pt idx="6">
                  <c:v>2040</c:v>
                </c:pt>
                <c:pt idx="7">
                  <c:v>2095</c:v>
                </c:pt>
                <c:pt idx="8">
                  <c:v>2110</c:v>
                </c:pt>
                <c:pt idx="9">
                  <c:v>2130</c:v>
                </c:pt>
                <c:pt idx="10">
                  <c:v>2155</c:v>
                </c:pt>
                <c:pt idx="11">
                  <c:v>2180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5B1-48C7-84F2-AB2F70967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AUA (€bn)</c:v>
                </c:pt>
              </c:strCache>
            </c:strRef>
          </c:tx>
          <c:spPr>
            <a:ln w="28575">
              <a:solidFill>
                <a:srgbClr val="E97132"/>
              </a:solidFill>
            </a:ln>
          </c:spPr>
          <c:cat>
            <c:strRef>
              <c:f>Sheet1!$A$2:$A$13</c:f>
              <c:strCache>
                <c:ptCount val="12"/>
                <c:pt idx="0">
                  <c:v>Nov-25</c:v>
                </c:pt>
                <c:pt idx="1">
                  <c:v>Dec-25</c:v>
                </c:pt>
                <c:pt idx="2">
                  <c:v>Jan-26</c:v>
                </c:pt>
                <c:pt idx="3">
                  <c:v>Feb-26</c:v>
                </c:pt>
                <c:pt idx="4">
                  <c:v>Mar-26</c:v>
                </c:pt>
                <c:pt idx="5">
                  <c:v>Apr-26</c:v>
                </c:pt>
                <c:pt idx="6">
                  <c:v>May-26</c:v>
                </c:pt>
                <c:pt idx="7">
                  <c:v>Jun-26</c:v>
                </c:pt>
                <c:pt idx="8">
                  <c:v>Jul-26</c:v>
                </c:pt>
                <c:pt idx="9">
                  <c:v>Aug-26</c:v>
                </c:pt>
                <c:pt idx="10">
                  <c:v>Sep-26</c:v>
                </c:pt>
                <c:pt idx="11">
                  <c:v>Oct-26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36.5</c:v>
                </c:pt>
                <c:pt idx="1">
                  <c:v>36.799999999999997</c:v>
                </c:pt>
                <c:pt idx="2">
                  <c:v>37</c:v>
                </c:pt>
                <c:pt idx="3">
                  <c:v>37.299999999999997</c:v>
                </c:pt>
                <c:pt idx="4">
                  <c:v>37.6</c:v>
                </c:pt>
                <c:pt idx="5">
                  <c:v>37.799999999999997</c:v>
                </c:pt>
                <c:pt idx="6">
                  <c:v>38</c:v>
                </c:pt>
                <c:pt idx="7">
                  <c:v>38.299999999999997</c:v>
                </c:pt>
                <c:pt idx="8">
                  <c:v>38.5</c:v>
                </c:pt>
                <c:pt idx="9">
                  <c:v>38.700000000000003</c:v>
                </c:pt>
                <c:pt idx="10">
                  <c:v>37.9</c:v>
                </c:pt>
                <c:pt idx="11">
                  <c:v>39.4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B1-48C7-84F2-AB2F70967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01"/>
        <c:axId val="700000002"/>
      </c:line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in val="1800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2068027336"/>
        <c:crosses val="autoZero"/>
        <c:crossBetween val="between"/>
      </c:valAx>
      <c:catAx>
        <c:axId val="70000000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00000002"/>
        <c:crosses val="autoZero"/>
        <c:auto val="1"/>
        <c:lblAlgn val="ctr"/>
        <c:lblOffset val="100"/>
        <c:noMultiLvlLbl val="0"/>
      </c:catAx>
      <c:valAx>
        <c:axId val="700000002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crossAx val="700000001"/>
        <c:crosses val="max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000">
          <a:solidFill>
            <a:srgbClr val="0E28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E2841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  <a:latin typeface="Calibri"/>
                      </a:rPr>
                      <a:t>1,517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22-4C39-8E33-1526CB684F1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  <a:latin typeface="Calibri"/>
                      </a:rPr>
                      <a:t>1,543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22-4C39-8E33-1526CB684F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Budget Opex</c:v>
                </c:pt>
                <c:pt idx="1">
                  <c:v>Staff cover</c:v>
                </c:pt>
                <c:pt idx="2">
                  <c:v>Technology</c:v>
                </c:pt>
                <c:pt idx="3">
                  <c:v>Professional fees</c:v>
                </c:pt>
                <c:pt idx="4">
                  <c:v>Other / facilities</c:v>
                </c:pt>
                <c:pt idx="5">
                  <c:v>Actual Opex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1517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C22-4C39-8E33-1526CB684F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invisible</c:v>
                </c:pt>
              </c:strCache>
            </c:strRef>
          </c:tx>
          <c:spPr>
            <a:noFill/>
          </c:spPr>
          <c:invertIfNegative val="1"/>
          <c:cat>
            <c:strRef>
              <c:f>Sheet1!$A$2:$A$7</c:f>
              <c:strCache>
                <c:ptCount val="6"/>
                <c:pt idx="0">
                  <c:v>Budget Opex</c:v>
                </c:pt>
                <c:pt idx="1">
                  <c:v>Staff cover</c:v>
                </c:pt>
                <c:pt idx="2">
                  <c:v>Technology</c:v>
                </c:pt>
                <c:pt idx="3">
                  <c:v>Professional fees</c:v>
                </c:pt>
                <c:pt idx="4">
                  <c:v>Other / facilities</c:v>
                </c:pt>
                <c:pt idx="5">
                  <c:v>Actual Opex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0</c:v>
                </c:pt>
                <c:pt idx="1">
                  <c:v>1517</c:v>
                </c:pt>
                <c:pt idx="2">
                  <c:v>1561</c:v>
                </c:pt>
                <c:pt idx="3">
                  <c:v>1561</c:v>
                </c:pt>
                <c:pt idx="4">
                  <c:v>1543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22-4C39-8E33-1526CB684F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8880B"/>
            </a:solidFill>
          </c:spPr>
          <c:invertIfNegative val="1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E2841"/>
                        </a:solidFill>
                        <a:latin typeface="Calibri"/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C22-4C39-8E33-1526CB684F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E2841"/>
                        </a:solidFill>
                        <a:latin typeface="Calibri"/>
                      </a:rPr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22-4C39-8E33-1526CB684F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Budget Opex</c:v>
                </c:pt>
                <c:pt idx="1">
                  <c:v>Staff cover</c:v>
                </c:pt>
                <c:pt idx="2">
                  <c:v>Technology</c:v>
                </c:pt>
                <c:pt idx="3">
                  <c:v>Professional fees</c:v>
                </c:pt>
                <c:pt idx="4">
                  <c:v>Other / facilities</c:v>
                </c:pt>
                <c:pt idx="5">
                  <c:v>Actual Opex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0</c:v>
                </c:pt>
                <c:pt idx="1">
                  <c:v>52</c:v>
                </c:pt>
                <c:pt idx="2">
                  <c:v>0</c:v>
                </c:pt>
                <c:pt idx="3">
                  <c:v>10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C22-4C39-8E33-1526CB684F1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1E7A3C"/>
            </a:solidFill>
          </c:spPr>
          <c:invertIfNegative val="1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E2841"/>
                        </a:solidFill>
                        <a:latin typeface="Calibri"/>
                      </a:rPr>
                      <a:t>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C22-4C39-8E33-1526CB684F1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E2841"/>
                        </a:solidFill>
                        <a:latin typeface="Calibri"/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C22-4C39-8E33-1526CB684F1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Budget Opex</c:v>
                </c:pt>
                <c:pt idx="1">
                  <c:v>Staff cover</c:v>
                </c:pt>
                <c:pt idx="2">
                  <c:v>Technology</c:v>
                </c:pt>
                <c:pt idx="3">
                  <c:v>Professional fees</c:v>
                </c:pt>
                <c:pt idx="4">
                  <c:v>Other / facilities</c:v>
                </c:pt>
                <c:pt idx="5">
                  <c:v>Actual Opex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  <c:pt idx="4">
                  <c:v>28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7C22-4C39-8E33-1526CB684F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620"/>
          <c:min val="1400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0E28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NAV Error Rate (bps)</c:v>
                </c:pt>
              </c:strCache>
            </c:strRef>
          </c:tx>
          <c:spPr>
            <a:ln w="28575">
              <a:solidFill>
                <a:srgbClr val="156082"/>
              </a:solidFill>
            </a:ln>
          </c:spP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May-26</c:v>
                </c:pt>
                <c:pt idx="1">
                  <c:v>Jun-26</c:v>
                </c:pt>
                <c:pt idx="2">
                  <c:v>Jul-26</c:v>
                </c:pt>
                <c:pt idx="3">
                  <c:v>Aug-26</c:v>
                </c:pt>
                <c:pt idx="4">
                  <c:v>Sep-26</c:v>
                </c:pt>
                <c:pt idx="5">
                  <c:v>Oct-26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3.4</c:v>
                </c:pt>
                <c:pt idx="1">
                  <c:v>3</c:v>
                </c:pt>
                <c:pt idx="2">
                  <c:v>2.6</c:v>
                </c:pt>
                <c:pt idx="3">
                  <c:v>2.2999999999999998</c:v>
                </c:pt>
                <c:pt idx="4">
                  <c:v>2</c:v>
                </c:pt>
                <c:pt idx="5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A4-40E8-B810-6A0DF9307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majorGridlines/>
        <c:numFmt formatCode="0.0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0E28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DSO (days)</c:v>
                </c:pt>
              </c:strCache>
            </c:strRef>
          </c:tx>
          <c:spPr>
            <a:ln w="28575">
              <a:solidFill>
                <a:srgbClr val="C8880B"/>
              </a:solidFill>
            </a:ln>
          </c:spP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May-26</c:v>
                </c:pt>
                <c:pt idx="1">
                  <c:v>Jun-26</c:v>
                </c:pt>
                <c:pt idx="2">
                  <c:v>Jul-26</c:v>
                </c:pt>
                <c:pt idx="3">
                  <c:v>Aug-26</c:v>
                </c:pt>
                <c:pt idx="4">
                  <c:v>Sep-26</c:v>
                </c:pt>
                <c:pt idx="5">
                  <c:v>Oct-26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44</c:v>
                </c:pt>
                <c:pt idx="1">
                  <c:v>46</c:v>
                </c:pt>
                <c:pt idx="2">
                  <c:v>45</c:v>
                </c:pt>
                <c:pt idx="3">
                  <c:v>48</c:v>
                </c:pt>
                <c:pt idx="4">
                  <c:v>49</c:v>
                </c:pt>
                <c:pt idx="5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7E-47B7-9542-ABEEBB3149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"/>
          <c:min val="30"/>
        </c:scaling>
        <c:delete val="0"/>
        <c:axPos val="l"/>
        <c:majorGridlines/>
        <c:numFmt formatCode="0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0E2841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1B5D9-DE74-44F8-AEA3-3396E9CCCDC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0002F-EF4C-46FC-8199-0B0032D93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5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0002F-EF4C-46FC-8199-0B0032D934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59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0002F-EF4C-46FC-8199-0B0032D934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E9713-AB42-26EE-AD2E-1B0A344C5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4B6C7C-487F-980C-9E50-5BEF35AA7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A923-A79A-5050-76D6-A77C5F88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4AC5-1DE4-051D-34AB-15C55482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E0106-6D59-1008-9EA3-E6D06580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EF38-A3E2-756D-A38C-3453495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96CF-9B55-209C-42CE-C212A60A4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A309-4E12-908C-7E90-A16CC031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F603F-4292-ECE6-8E96-D17F4516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DCC10-0A2F-F5AB-9EB8-18A3230B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8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6CC-C92E-DEDA-C739-3CB63BE0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00504-BC33-FD02-1DDB-AB7B6443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C6FB-A677-C1DC-C5BD-D9DA5A29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66D04-E07D-6946-EB5D-CFC319A8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15310-C729-B717-B58E-1A030A42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1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B096-C937-9040-D071-0002E65A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EBE80-F08C-5F15-5315-BD1A06EA7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0F4A3-AFFD-BFA8-E7BC-E115838BB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42BE5-78E4-3006-A123-D94EE9207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7A6C1-4616-1335-0939-0E7693D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AC6BF-F536-07E9-6882-A74D997B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4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AB29-45C0-A219-252D-A1F0186F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DCE5A-E6B1-47BC-502D-9694F8925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45CBA-91CF-4F5C-4247-618EE4C67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F9911-063A-3573-E65B-E573DEF99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3C267-F956-C72B-0730-F12A866C5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737BB-1091-099F-A628-B86206B6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68F15-D9A3-6477-30E8-59552927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BEB7F-C11A-3CC7-0222-D5EBBF79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C86A-F832-C8D8-AB15-68AD3478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E5AE6-797A-5053-0005-EEDD87B8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28F5A-D79A-FE39-7F0D-D6F1BBD8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026FD-AC71-9CEB-B410-DF1EE230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6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DBB86-5E10-21BD-6A77-34EF7F9B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D5373-8079-3FBC-0985-76F0E4EF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FDB0F-3345-AF5C-BD67-424D13E0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4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29C2-BF50-5938-7370-F01A6984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CA511-FE4A-CC56-DF9A-23B10AAE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74CBA-7CE8-A92F-9EF9-27F542A69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4A76B-5F9E-884C-411E-3131C6BA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04DE5-48E0-9777-E670-BF0117DBC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2A812-87D5-E08B-03FF-CD743418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6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5BB5-049F-7F15-D3C5-FDB86C47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38F7F-4466-2746-F792-2DDCEE1E3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4A80A-C970-E129-B0B5-ECA198897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BA2EB-D828-4B70-16B3-470B98A6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A7C34-3143-AF9F-DFB4-A351A838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84D0-35FD-7345-A644-F3B97963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2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AADA-6A05-231C-55F2-B526A81B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C0EB0-22CF-D7FE-2C65-1934BB451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1B880-B03A-0DED-3ECA-17D05D71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F11B-40B3-479A-A43C-319AEE91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8ED06-D599-B921-53D1-A27C3B8D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94944-6AB2-0F2F-870C-595DC841A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BF4F1-15A0-9D6E-B877-B271951ED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A030-0777-DB03-04ED-6C3995B6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DA948-1720-9D99-1797-489722BB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0E74-F79A-1BE2-4628-E371F89E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6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14076-28EE-498A-6E53-867533D6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AAD6C-267C-DB46-621B-3752E749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1006-2B93-99B6-C570-C0640AF59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3BA4B-18CD-442F-8C95-B129AB1EC19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4592D-FF70-5DDC-52B4-15F3C34EC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EAF7-3B93-14CC-7F93-5714D4547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81688-5237-4400-8C15-DF76D67DA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6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5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FB2C8"/>
                </a:solidFill>
                <a:latin typeface="Calibri"/>
              </a:rPr>
              <a:t>MERIDIAN FUND SERVICES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00000"/>
            <a:ext cx="98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Monthly Management Reporting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0000"/>
            <a:ext cx="98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BFCFDD"/>
                </a:solidFill>
                <a:latin typeface="Calibri"/>
              </a:rPr>
              <a:t>Fund Administration &amp; Asset Servicing Division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0000"/>
            <a:ext cx="3000000" cy="2743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5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REPORTING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30000"/>
            <a:ext cx="2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400" y="405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400" y="4330000"/>
            <a:ext cx="2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Joy Lorna, Financial Analyst, FP&amp;A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4400" y="405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DATE OF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4400" y="4330000"/>
            <a:ext cx="2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5 November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400" y="405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00" y="4330000"/>
            <a:ext cx="23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Final  |  Portfolio 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8A9BAA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8A9BA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612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8A9BAA"/>
                </a:solidFill>
                <a:latin typeface="Calibri"/>
              </a:rPr>
              <a:t>Fictional business unit prepared for portfolio purposes; figures are illustrative.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" y="501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DATA AS OF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" y="529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31 October 2026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64600" y="5010000"/>
            <a:ext cx="2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7FB2C8"/>
                </a:solidFill>
                <a:latin typeface="Calibri"/>
              </a:rPr>
              <a:t>WORKBOOK VERSION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64600" y="5290000"/>
            <a:ext cx="2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45934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1200" b="0" i="0">
                <a:solidFill>
                  <a:srgbClr val="BFCFDD"/>
                </a:solidFill>
                <a:latin typeface="Calibri"/>
              </a:rPr>
              <a:t>October 2026 close  |  Performance, drivers and required actions  |  Reporting cut-off: month-end close completed 31 October 2026</a:t>
            </a:r>
            <a:endParaRPr sz="1200" b="0" i="0">
              <a:solidFill>
                <a:srgbClr val="BFCFDD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00000"/>
            <a:ext cx="2500000" cy="115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00000"/>
            <a:ext cx="2500000" cy="457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080" y="153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59636E"/>
                </a:solidFill>
                <a:latin typeface="Calibri"/>
              </a:rPr>
              <a:t>TOTAL FEE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80" y="1810000"/>
            <a:ext cx="2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E2841"/>
                </a:solidFill>
                <a:latin typeface="Calibri"/>
              </a:rPr>
              <a:t>€2.18m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80" y="226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Budget €2.22m  |  +6.2%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5080" y="1400000"/>
            <a:ext cx="2500000" cy="115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5080" y="1400000"/>
            <a:ext cx="2500000" cy="45720"/>
          </a:xfrm>
          <a:prstGeom prst="rect">
            <a:avLst/>
          </a:prstGeom>
          <a:solidFill>
            <a:srgbClr val="C888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5080" y="153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59636E"/>
                </a:solidFill>
                <a:latin typeface="Calibri"/>
              </a:rPr>
              <a:t>OPERATING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5080" y="1810000"/>
            <a:ext cx="2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E2841"/>
                </a:solidFill>
                <a:latin typeface="Calibri"/>
              </a:rPr>
              <a:t>29.2%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5080" y="226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Budget 31.7%  |  (2.5)pts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0080" y="1400000"/>
            <a:ext cx="2500000" cy="115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0080" y="1400000"/>
            <a:ext cx="2500000" cy="457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0080" y="153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59636E"/>
                </a:solidFill>
                <a:latin typeface="Calibri"/>
              </a:rPr>
              <a:t>ASSETS UNDER 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0080" y="1810000"/>
            <a:ext cx="2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E2841"/>
                </a:solidFill>
                <a:latin typeface="Calibri"/>
              </a:rPr>
              <a:t>€39.4bn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0080" y="226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Budget €39.0bn  |  +9.1% YoY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25080" y="1400000"/>
            <a:ext cx="2500000" cy="115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25080" y="1400000"/>
            <a:ext cx="2500000" cy="457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75080" y="153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59636E"/>
                </a:solidFill>
                <a:latin typeface="Calibri"/>
              </a:rPr>
              <a:t>NAV ERROR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5080" y="1810000"/>
            <a:ext cx="22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E2841"/>
                </a:solidFill>
                <a:latin typeface="Calibri"/>
              </a:rPr>
              <a:t>1.8 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5080" y="2260000"/>
            <a:ext cx="2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Budget 2.5 bps  |  (1.3) YoY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800000"/>
            <a:ext cx="6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MANAGEMENT COMMENTARY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180000"/>
            <a:ext cx="70000" cy="7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000" y="3120000"/>
            <a:ext cx="61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Fee revenue reached €2.18m, up 6.2% year-on-year; one real estate onboarding ramp remains the principal budget timing gap.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760000"/>
            <a:ext cx="70000" cy="7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000" y="3700000"/>
            <a:ext cx="61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EBITDA was €637k and operating margin 29.2%, both below budget because temporary NAV production cover lifted the cost base.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340000"/>
            <a:ext cx="70000" cy="7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0000" y="4280000"/>
            <a:ext cx="61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AUA closed at €39.4bn, 1.0% above budget and 9.1% above prior year, supported by new mandates and positive valuation movement.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920000"/>
            <a:ext cx="70000" cy="7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000" y="4860000"/>
            <a:ext cx="61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NAV error rate improved to 1.8bps versus 2.5bps budget, sustaining the benefit of the Q3 remediation plan.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00000"/>
            <a:ext cx="70000" cy="70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000" y="5440000"/>
            <a:ext cx="61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DSO ended at 47 days, five days above budget; ownership is assigned for two invoices aged over 60 days before the November close.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50000" y="2800000"/>
            <a:ext cx="4300000" cy="31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80000" y="300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EXECUTIVE STEERING MESSAGE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80000" y="3380000"/>
            <a:ext cx="3850000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Commercial momentum and operational quality remain positive. Executive attention should focus on converting delayed onboarding revenue, normalising temporary staffing cover and collecting the two overdue balances before the next close.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480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DECISIONS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0000" y="515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80000" y="5120000"/>
            <a:ext cx="38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 i="0">
                <a:solidFill>
                  <a:srgbClr val="0E2841"/>
                </a:solidFill>
                <a:latin typeface="Calibri"/>
              </a:rPr>
              <a:t>1.  Approve November billing of the delayed onboarding milestone.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80000" y="515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80000" y="5380000"/>
            <a:ext cx="38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 i="0">
                <a:solidFill>
                  <a:srgbClr val="0E2841"/>
                </a:solidFill>
                <a:latin typeface="Calibri"/>
              </a:rPr>
              <a:t>2.  Confirm exit date for temporary NAV production cover.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0000" y="5150000"/>
            <a:ext cx="38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80000" y="5640000"/>
            <a:ext cx="385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00" b="0" i="0">
                <a:solidFill>
                  <a:srgbClr val="0E2841"/>
                </a:solidFill>
                <a:latin typeface="Calibri"/>
              </a:rPr>
              <a:t>3.  Escalate two receivables aged over 60 days.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40080" y="6030000"/>
            <a:ext cx="10910000" cy="320000"/>
          </a:xfrm>
          <a:prstGeom prst="rect">
            <a:avLst/>
          </a:prstGeom>
          <a:solidFill>
            <a:srgbClr val="F7F1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1"/>
          <p:cNvSpPr/>
          <p:nvPr/>
        </p:nvSpPr>
        <p:spPr>
          <a:xfrm>
            <a:off x="640080" y="6030000"/>
            <a:ext cx="45720" cy="3200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820080" y="6110000"/>
            <a:ext cx="106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B3261E"/>
                </a:solidFill>
                <a:latin typeface="Calibri"/>
              </a:rPr>
              <a:t>Principal risk:  </a:t>
            </a:r>
            <a:r>
              <a:rPr sz="900" b="0" i="0">
                <a:solidFill>
                  <a:srgbClr val="59636E"/>
                </a:solidFill>
                <a:latin typeface="Calibri"/>
              </a:rPr>
              <a:t>continued delay in onboarding conversion and receivable collection could extend margin pressure into the next reporting cycle.</a:t>
            </a:r>
          </a:p>
        </p:txBody>
      </p:sp>
    </p:spTree>
    <p:extLst>
      <p:ext uri="{BB962C8B-B14F-4D97-AF65-F5344CB8AC3E}">
        <p14:creationId xmlns:p14="http://schemas.microsoft.com/office/powerpoint/2010/main" val="393676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Management P&amp;L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€'000 unless stated  |  Actual vs prior year and board-approved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75508"/>
              </p:ext>
            </p:extLst>
          </p:nvPr>
        </p:nvGraphicFramePr>
        <p:xfrm>
          <a:off x="640080" y="1500000"/>
          <a:ext cx="10910000" cy="245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P&amp;L line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 Year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 vs PY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 vs Budget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Management interpretation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2841"/>
                          </a:solidFill>
                          <a:latin typeface="Calibri"/>
                        </a:rPr>
                        <a:t>Fee Revenue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2,180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2,053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2,220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>
                          <a:solidFill>
                            <a:srgbClr val="0E2841"/>
                          </a:solidFill>
                          <a:latin typeface="Calibri"/>
                        </a:rPr>
                        <a:t>+127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B3261E"/>
                          </a:solidFill>
                          <a:latin typeface="Calibri"/>
                        </a:rPr>
                        <a:t>(40)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Revenue growth is positive; the plan gap is timing-related.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2841"/>
                          </a:solidFill>
                          <a:latin typeface="Calibri"/>
                        </a:rPr>
                        <a:t>Operating Expenses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1,543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1,468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1,517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>
                          <a:solidFill>
                            <a:srgbClr val="B3261E"/>
                          </a:solidFill>
                          <a:latin typeface="Calibri"/>
                        </a:rPr>
                        <a:t>+75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>
                          <a:solidFill>
                            <a:srgbClr val="B3261E"/>
                          </a:solidFill>
                          <a:latin typeface="Calibri"/>
                        </a:rPr>
                        <a:t>+26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Temporary cover partly offset by technology and facilities savings.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2841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637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585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703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>
                          <a:solidFill>
                            <a:srgbClr val="0E2841"/>
                          </a:solidFill>
                          <a:latin typeface="Calibri"/>
                        </a:rPr>
                        <a:t>+52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B3261E"/>
                          </a:solidFill>
                          <a:latin typeface="Calibri"/>
                        </a:rPr>
                        <a:t>(66)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EBITDA remains above prior year but €66k below budget.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2841"/>
                          </a:solidFill>
                          <a:latin typeface="Calibri"/>
                        </a:rPr>
                        <a:t>Operating Margin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29.2%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28.5%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E2841"/>
                          </a:solidFill>
                          <a:latin typeface="Calibri"/>
                        </a:rPr>
                        <a:t>31.7%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0">
                          <a:solidFill>
                            <a:srgbClr val="0E2841"/>
                          </a:solidFill>
                          <a:latin typeface="Calibri"/>
                        </a:rPr>
                        <a:t>+0.7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B3261E"/>
                          </a:solidFill>
                          <a:latin typeface="Calibri"/>
                        </a:rPr>
                        <a:t>(2.5)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Margin dilution is temporary and linked to staffing cover.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200000"/>
            <a:ext cx="10910000" cy="7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000" y="4360000"/>
            <a:ext cx="105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Takeaway: revenue is up 6.2% year-on-year on new private credit mandates, but EBITDA is €66k below budget as temporary NAV production cover lifted opex 1.7% above plan. The gap is timing and cover related, not structural.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50000"/>
            <a:ext cx="1091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MANAGEMENT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1.  Convert the delayed real estate onboarding milestone into November billing.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0080" y="548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2.  End temporary NAV production cover once the handover is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80" y="5480000"/>
            <a:ext cx="34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3.  Escalate the two receivables aged over 60 days and confirm collection before close.</a:t>
            </a:r>
          </a:p>
        </p:txBody>
      </p:sp>
    </p:spTree>
    <p:extLst>
      <p:ext uri="{BB962C8B-B14F-4D97-AF65-F5344CB8AC3E}">
        <p14:creationId xmlns:p14="http://schemas.microsoft.com/office/powerpoint/2010/main" val="17317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Ten executive KPIs  |  Linked to the KPI_Model tab of the Meridian reporting workbook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891972"/>
              </p:ext>
            </p:extLst>
          </p:nvPr>
        </p:nvGraphicFramePr>
        <p:xfrm>
          <a:off x="640080" y="1420000"/>
          <a:ext cx="10910000" cy="3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PY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 vs PY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 vs Bud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Total Fee Revenue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€'000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2,180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2,053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2,220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(1.8%)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New private credit mandates offset by slower real estate ramp.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Net New Fee Revenue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€'000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+137.5%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+35.7%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Two onboarding mandates contributed €95k net new revenue.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Total Operating Expenses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€'000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1,543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1,468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1,517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+5.1%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Temporary staffing cover offset by technology savings.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Staff Cost as % of Revenue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54.0%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52.8%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+1.2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+2.0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64000" marR="64000" marT="28000" marB="28000" anchor="ctr">
                    <a:solidFill>
                      <a:srgbClr val="C888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NAV team parental leave cover lifted the staff cost ratio.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€'000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637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585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703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+8.9%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(9.4%)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64000" marR="64000" marT="28000" marB="28000" anchor="ctr">
                    <a:solidFill>
                      <a:srgbClr val="C888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Below budget on staff cost overrun and delayed revenue ramp.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Operating Margin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29.2%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28.5%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31.7%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+0.7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(2.5)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64000" marR="64000" marT="28000" marB="28000" anchor="ctr">
                    <a:solidFill>
                      <a:srgbClr val="C888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Dilution is temporary, not a structural cost base shift.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Assets Under Administration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€bn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39.4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36.1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39.0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+9.1%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New onboardings and positive market movement drove uplift.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Days Sales Outstanding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+6 days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+5 days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64000" marR="64000" marT="28000" marB="28000" anchor="ctr">
                    <a:solidFill>
                      <a:srgbClr val="C888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Two clients over 60 days outstanding; follow-up underway.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NAV Error Rate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bps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(1.3)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(0.7)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Q3 transfer agency remediation plan reduced the error rate.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FTE Utilisation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88.0%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E2841"/>
                          </a:solidFill>
                          <a:latin typeface="Calibri"/>
                        </a:rPr>
                        <a:t>+3.5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0">
                          <a:solidFill>
                            <a:srgbClr val="B3261E"/>
                          </a:solidFill>
                          <a:latin typeface="Calibri"/>
                        </a:rPr>
                        <a:t>(0.5) pts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64000" marR="64000" marT="28000" marB="28000" anchor="ctr">
                    <a:solidFill>
                      <a:srgbClr val="1E7A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9636E"/>
                          </a:solidFill>
                          <a:latin typeface="Calibri"/>
                        </a:rPr>
                        <a:t>Utilisation broadly in line with budget despite cover.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400000"/>
            <a:ext cx="109100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636E"/>
                </a:solidFill>
                <a:latin typeface="Calibri"/>
              </a:rPr>
              <a:t>Six KPIs are green and four amber. The amber cluster — staff cost ratio, EBITDA, operating margin and DSO — has a single root cause: temporary NAV production cover and two overdue receivables. RAG thresholds are defined </a:t>
            </a:r>
            <a:r>
              <a:rPr lang="en-US" sz="1100" b="0" i="0">
                <a:solidFill>
                  <a:srgbClr val="59636E"/>
                </a:solidFill>
                <a:latin typeface="Calibri"/>
              </a:rPr>
              <a:t>in Appendix A</a:t>
            </a:r>
            <a:r>
              <a:rPr sz="1100" b="0" i="0">
                <a:solidFill>
                  <a:srgbClr val="59636E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4312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Fee Revenue and AUA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12-month rolling view  |  Fee revenue (€'000, bars) vs AUA (€bn, 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/>
        </p:nvGraphicFramePr>
        <p:xfrm>
          <a:off x="640080" y="1420000"/>
          <a:ext cx="755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50000" y="1420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WHAT THE TREND SHOWS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50000" y="18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0000" y="1960000"/>
            <a:ext cx="28700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Fee revenue has </a:t>
            </a:r>
            <a:r>
              <a:rPr lang="en-US" sz="1100" b="0" i="0">
                <a:solidFill>
                  <a:srgbClr val="0E2841"/>
                </a:solidFill>
                <a:latin typeface="Calibri"/>
              </a:rPr>
              <a:t>risen </a:t>
            </a:r>
            <a:r>
              <a:rPr sz="1100" b="0" i="0">
                <a:solidFill>
                  <a:srgbClr val="0E2841"/>
                </a:solidFill>
                <a:latin typeface="Calibri"/>
              </a:rPr>
              <a:t>in </a:t>
            </a:r>
            <a:r>
              <a:rPr lang="en-US" sz="1100" b="0" i="0">
                <a:solidFill>
                  <a:srgbClr val="0E2841"/>
                </a:solidFill>
                <a:latin typeface="Calibri"/>
              </a:rPr>
              <a:t>nine </a:t>
            </a:r>
            <a:r>
              <a:rPr sz="1100" b="0" i="0">
                <a:solidFill>
                  <a:srgbClr val="0E2841"/>
                </a:solidFill>
                <a:latin typeface="Calibri"/>
              </a:rPr>
              <a:t>of the last </a:t>
            </a:r>
            <a:r>
              <a:rPr lang="en-US" sz="1100" b="0" i="0">
                <a:solidFill>
                  <a:srgbClr val="0E2841"/>
                </a:solidFill>
                <a:latin typeface="Calibri"/>
              </a:rPr>
              <a:t>eleven</a:t>
            </a:r>
            <a:r>
              <a:rPr sz="1100" b="0" i="0">
                <a:solidFill>
                  <a:srgbClr val="0E2841"/>
                </a:solidFill>
                <a:latin typeface="Calibri"/>
              </a:rPr>
              <a:t> months, from €1.97m to €2.18m (+10.9%), driven by mandate onboardings rather than repricing.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0000" y="31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0000" y="3260000"/>
            <a:ext cx="287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AUA dipped in September on a client redemption, then recovered to €39.4bn on new mandates and positive valuation movement.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0000" y="44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0000" y="4560000"/>
            <a:ext cx="287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The October revenue run-rate supports the FY27 planning assumption of €2.2m per month once the delayed onboarding bills.</a:t>
            </a:r>
          </a:p>
        </p:txBody>
      </p:sp>
    </p:spTree>
    <p:extLst>
      <p:ext uri="{BB962C8B-B14F-4D97-AF65-F5344CB8AC3E}">
        <p14:creationId xmlns:p14="http://schemas.microsoft.com/office/powerpoint/2010/main" val="353932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Operating Cost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Budget opex to actual opex  |  €'000,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/>
        </p:nvGraphicFramePr>
        <p:xfrm>
          <a:off x="640080" y="1420000"/>
          <a:ext cx="755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50000" y="1420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COST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50000" y="18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0000" y="1960000"/>
            <a:ext cx="287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Temporary NAV production cover added €52k to staff cost — the single driver of the €26k opex overrun.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0000" y="31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0000" y="3260000"/>
            <a:ext cx="287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Technology (€8k) and facilities (€28k) underspends partly absorbed the overrun; professional fees ran €10k over on fund migration advice.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50000" y="4400000"/>
            <a:ext cx="3200000" cy="11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0000" y="4560000"/>
            <a:ext cx="287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E2841"/>
                </a:solidFill>
                <a:latin typeface="Calibri"/>
              </a:rPr>
              <a:t>Removing the cover from December restores opex to plan without structural cost action.</a:t>
            </a:r>
          </a:p>
        </p:txBody>
      </p:sp>
    </p:spTree>
    <p:extLst>
      <p:ext uri="{BB962C8B-B14F-4D97-AF65-F5344CB8AC3E}">
        <p14:creationId xmlns:p14="http://schemas.microsoft.com/office/powerpoint/2010/main" val="338879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Operational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NAV error rate and days sales outstanding  |  Six-month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/>
        </p:nvGraphicFramePr>
        <p:xfrm>
          <a:off x="640080" y="1500000"/>
          <a:ext cx="5350000" cy="3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1420000"/>
            <a:ext cx="53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NAV ERROR RATE (BPS)  |  BUDGET 2.5</a:t>
            </a:r>
          </a:p>
        </p:txBody>
      </p:sp>
      <p:graphicFrame>
        <p:nvGraphicFramePr>
          <p:cNvPr id="10" name="Chart 9" descr="Chart"/>
          <p:cNvGraphicFramePr>
            <a:graphicFrameLocks noGrp="1"/>
          </p:cNvGraphicFramePr>
          <p:nvPr/>
        </p:nvGraphicFramePr>
        <p:xfrm>
          <a:off x="6200000" y="1500000"/>
          <a:ext cx="5350000" cy="3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00000" y="1420000"/>
            <a:ext cx="535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8880B"/>
                </a:solidFill>
                <a:latin typeface="Calibri"/>
              </a:rPr>
              <a:t>DAYS SALES OUTSTANDING  |  BUDGET 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50000"/>
            <a:ext cx="5350000" cy="10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000" y="5300000"/>
            <a:ext cx="500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NAV error rate has </a:t>
            </a:r>
            <a:r>
              <a:rPr lang="en-US" sz="1200" b="0" i="0">
                <a:solidFill>
                  <a:srgbClr val="0E2841"/>
                </a:solidFill>
                <a:latin typeface="Calibri"/>
              </a:rPr>
              <a:t>almost </a:t>
            </a:r>
            <a:r>
              <a:rPr sz="1200" b="0" i="0">
                <a:solidFill>
                  <a:srgbClr val="0E2841"/>
                </a:solidFill>
                <a:latin typeface="Calibri"/>
              </a:rPr>
              <a:t>halved since May and sits 0.7bps inside budget. Service quality is now a commercial argument in mandate renewals.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0" y="5150000"/>
            <a:ext cx="5350000" cy="10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0000" y="5300000"/>
            <a:ext cx="5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E2841"/>
                </a:solidFill>
                <a:latin typeface="Calibri"/>
              </a:rPr>
              <a:t>DSO peaked at 49 days in September and improved to 47. Two invoices over 60 days account for four of the five days above budget.</a:t>
            </a:r>
          </a:p>
        </p:txBody>
      </p:sp>
    </p:spTree>
    <p:extLst>
      <p:ext uri="{BB962C8B-B14F-4D97-AF65-F5344CB8AC3E}">
        <p14:creationId xmlns:p14="http://schemas.microsoft.com/office/powerpoint/2010/main" val="226267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Appendix </a:t>
            </a:r>
            <a:r>
              <a:rPr lang="en-US" sz="2400" b="1" i="0">
                <a:solidFill>
                  <a:srgbClr val="FFFFFF"/>
                </a:solidFill>
                <a:latin typeface="Calibri"/>
              </a:rPr>
              <a:t>A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— KPI Definitions and RAG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Methodology  |  Source: Meridian reporting workbook, KPI_Model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US"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  <a:endParaRPr sz="900" b="0" i="0" dirty="0">
              <a:solidFill>
                <a:srgbClr val="5963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859832"/>
              </p:ext>
            </p:extLst>
          </p:nvPr>
        </p:nvGraphicFramePr>
        <p:xfrm>
          <a:off x="640080" y="1420000"/>
          <a:ext cx="10910000" cy="34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64000" marR="64000" marT="28000" marB="28000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Total Fee Revenue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All recurring and non-recurring administration, TA and depositary fees invoiced in the month.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Net New Fee Revenue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>
                          <a:solidFill>
                            <a:srgbClr val="59636E"/>
                          </a:solidFill>
                          <a:latin typeface="Calibri"/>
                        </a:rPr>
                        <a:t>Fee value of mandates onboarded in the month, net of terminations, on the same monthly basis as fee revenue.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Total Operating Expenses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Staff, technology, professional fees, facilities and other overhead, excluding depreciation.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Staff Cost as % of Revenue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Total staff cost including temporary cover divided by total fee revenue.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EBITDA / Operating Margin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Fee revenue less operating expenses; margin expressed as EBITDA over fee revenue.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Assets Under Administration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Month-end NAV of all funds administered, at closing valuation.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Days Sales Outstanding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Closing trade receivables divided by monthly fee revenue, multiplied by days in month.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NAV Error Rate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NAV errors per 10,000 NAVs produced, measured in basis points.</a:t>
                      </a:r>
                    </a:p>
                  </a:txBody>
                  <a:tcPr marL="64000" marR="64000" marT="28000" marB="280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E2841"/>
                          </a:solidFill>
                          <a:latin typeface="Calibri"/>
                        </a:rPr>
                        <a:t>FTE Utilisation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636E"/>
                          </a:solidFill>
                          <a:latin typeface="Calibri"/>
                        </a:rPr>
                        <a:t>Chargeable hours divided by available hours across the operations population.</a:t>
                      </a:r>
                    </a:p>
                  </a:txBody>
                  <a:tcPr marL="64000" marR="64000" marT="28000" marB="2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000000"/>
            <a:ext cx="1091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RAG THRESHOLDS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40000"/>
            <a:ext cx="3400000" cy="7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5340000"/>
            <a:ext cx="45720" cy="70000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080" y="5450000"/>
            <a:ext cx="31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E7A3C"/>
                </a:solidFill>
                <a:latin typeface="Calibr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80" y="5720000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Within 2% (or 1 point / 1 day) of budget in the favourable direction, or better.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0080" y="5340000"/>
            <a:ext cx="3400000" cy="7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0080" y="5340000"/>
            <a:ext cx="45720" cy="700000"/>
          </a:xfrm>
          <a:prstGeom prst="rect">
            <a:avLst/>
          </a:prstGeom>
          <a:solidFill>
            <a:srgbClr val="C888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0080" y="5450000"/>
            <a:ext cx="31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8880B"/>
                </a:solidFill>
                <a:latin typeface="Calibr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080" y="5720000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Adverse to budget by 2–10% (or 1–5 points / days); action owner assigned.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80" y="5340000"/>
            <a:ext cx="3400000" cy="70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20080" y="5340000"/>
            <a:ext cx="45720" cy="7000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0080" y="5450000"/>
            <a:ext cx="31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0080" y="5720000"/>
            <a:ext cx="31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Adverse to budget by more than 10% (or 5 points / days); escalation to ExCo.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0000"/>
            <a:ext cx="1091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9636E"/>
                </a:solidFill>
                <a:latin typeface="Calibri"/>
              </a:rPr>
              <a:t>All figures are sourced from the linked Meridian reporting workbook (Inputs_Actuals, Inputs_PriorYear, Inputs_Budget → KPI_Model). Fictional data prepared for portfolio purposes.</a:t>
            </a:r>
          </a:p>
        </p:txBody>
      </p:sp>
    </p:spTree>
    <p:extLst>
      <p:ext uri="{BB962C8B-B14F-4D97-AF65-F5344CB8AC3E}">
        <p14:creationId xmlns:p14="http://schemas.microsoft.com/office/powerpoint/2010/main" val="703058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0000"/>
            <a:ext cx="109118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Appendix </a:t>
            </a:r>
            <a:r>
              <a:rPr lang="en-US" sz="2400" b="1" i="0">
                <a:solidFill>
                  <a:srgbClr val="FFFFFF"/>
                </a:solidFill>
                <a:latin typeface="Calibri"/>
              </a:rPr>
              <a:t>B </a:t>
            </a:r>
            <a:r>
              <a:rPr sz="2400" b="1" i="0">
                <a:solidFill>
                  <a:srgbClr val="FFFFFF"/>
                </a:solidFill>
                <a:latin typeface="Calibri"/>
              </a:rPr>
              <a:t>— Source, Controls and KPI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0000"/>
            <a:ext cx="109118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FCFDD"/>
                </a:solidFill>
                <a:latin typeface="Calibri"/>
              </a:rPr>
              <a:t>Data lineage, limitations and reporting governance  |  Source: Meridian reporting workbook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0000"/>
            <a:ext cx="121920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20000"/>
            <a:ext cx="9000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Meridian Fund Services S.A.  |  October 2026  |  Data as of: 31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0000" y="6420000"/>
            <a:ext cx="135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9636E"/>
                </a:solidFill>
                <a:latin typeface="Calibri"/>
              </a:rPr>
              <a:t>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42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SOURCE INFORMATION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720000"/>
            <a:ext cx="53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9636E"/>
                </a:solidFill>
                <a:latin typeface="Calibri"/>
              </a:rPr>
              <a:t>All figures are derived from the Meridian Fund Services Monthly Reporting Workbook (Inputs_Actuals, Inputs_PriorYear and Inputs_Budget feeding KPI_Model).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80" y="242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DATA CLASSIFICATION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80" y="2720000"/>
            <a:ext cx="53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9636E"/>
                </a:solidFill>
                <a:latin typeface="Calibri"/>
              </a:rPr>
              <a:t>Synthetic portfolio dataset created for educational and portfolio demonstration purposes.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80" y="342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80" y="3720000"/>
            <a:ext cx="53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9636E"/>
                </a:solidFill>
                <a:latin typeface="Calibri"/>
              </a:rPr>
              <a:t>The analysis uses fictional operational and financial data and is intended solely to demonstrate management-reporting, KPI analysis and executive communication techniques.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50000" y="460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RECONCILIATION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50000" y="4900000"/>
            <a:ext cx="53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9636E"/>
                </a:solidFill>
                <a:latin typeface="Calibri"/>
              </a:rPr>
              <a:t>Key KPI values have been reconciled between source inputs, KPI model outputs and presentation reporting; all controls on the Control_Checks tab return PASS.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50000" y="142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KPI OWNERSHIP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50000" y="1720000"/>
            <a:ext cx="5300000" cy="1480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6430000" y="1880000"/>
            <a:ext cx="4940000" cy="13925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Revenue  </a:t>
            </a:r>
            <a:r>
              <a:rPr sz="1000" b="0" i="0">
                <a:solidFill>
                  <a:srgbClr val="59636E"/>
                </a:solidFill>
                <a:latin typeface="Calibri"/>
              </a:rPr>
              <a:t>—  Commercial Director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Assets Under Administration  </a:t>
            </a:r>
            <a:r>
              <a:rPr sz="1000" b="0" i="0">
                <a:solidFill>
                  <a:srgbClr val="59636E"/>
                </a:solidFill>
                <a:latin typeface="Calibri"/>
              </a:rPr>
              <a:t>—  Business Development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Days Sales Outstanding  </a:t>
            </a:r>
            <a:r>
              <a:rPr sz="1000" b="0" i="0">
                <a:solidFill>
                  <a:srgbClr val="59636E"/>
                </a:solidFill>
                <a:latin typeface="Calibri"/>
              </a:rPr>
              <a:t>—  Finance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NAV Error Rate  </a:t>
            </a:r>
            <a:r>
              <a:rPr sz="1000" b="0" i="0">
                <a:solidFill>
                  <a:srgbClr val="59636E"/>
                </a:solidFill>
                <a:latin typeface="Calibri"/>
              </a:rPr>
              <a:t>—  Operations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EBITDA  </a:t>
            </a:r>
            <a:r>
              <a:rPr sz="1000" b="0" i="0">
                <a:solidFill>
                  <a:srgbClr val="59636E"/>
                </a:solidFill>
                <a:latin typeface="Calibri"/>
              </a:rPr>
              <a:t>—  FP&amp;A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50000" y="3450000"/>
            <a:ext cx="5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156082"/>
                </a:solidFill>
                <a:latin typeface="Calibri"/>
              </a:rPr>
              <a:t>SOURCE WORKBOOK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50000" y="3750000"/>
            <a:ext cx="53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1" i="0">
                <a:solidFill>
                  <a:srgbClr val="0E2841"/>
                </a:solidFill>
                <a:latin typeface="Calibri"/>
              </a:rPr>
              <a:t>Meridian_Fund_Services_Monthly_Reporting_Pack.xlsx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59636E"/>
                </a:solidFill>
                <a:latin typeface="Calibri"/>
              </a:rPr>
              <a:t>Version: v1.0  |  Data as of: 31 October 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" y="6120000"/>
            <a:ext cx="1091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00" b="0" i="1">
                <a:solidFill>
                  <a:srgbClr val="59636E"/>
                </a:solidFill>
                <a:latin typeface="Calibri"/>
              </a:rPr>
              <a:t>All figures are sourced from the linked Meridian reporting workbook. Fictional data prepared for portfolio purposes; not a real financial institution reporting pack.</a:t>
            </a:r>
          </a:p>
        </p:txBody>
      </p:sp>
    </p:spTree>
    <p:extLst>
      <p:ext uri="{BB962C8B-B14F-4D97-AF65-F5344CB8AC3E}">
        <p14:creationId xmlns:p14="http://schemas.microsoft.com/office/powerpoint/2010/main" val="335759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1796</Words>
  <Application>Microsoft Office PowerPoint</Application>
  <PresentationFormat>Widescreen</PresentationFormat>
  <Paragraphs>280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Lorna</dc:creator>
  <cp:lastModifiedBy>Joy Lorna</cp:lastModifiedBy>
  <cp:revision>1</cp:revision>
  <dcterms:created xsi:type="dcterms:W3CDTF">2026-08-13T12:44:11Z</dcterms:created>
  <dcterms:modified xsi:type="dcterms:W3CDTF">2026-08-27T23:55:03Z</dcterms:modified>
</cp:coreProperties>
</file>